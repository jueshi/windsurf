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Stock Research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CCCCC"/>
                </a:solidFill>
              </a:defRPr>
            </a:pPr>
            <a:r>
              <a:t>A Systematic Approach to Stock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5-Phase Research Process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645920"/>
            <a:ext cx="1645920" cy="2286000"/>
          </a:xfrm>
          <a:prstGeom prst="round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737360"/>
            <a:ext cx="1645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46888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Discovery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301752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Find candidates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920240" y="2560320"/>
            <a:ext cx="137160" cy="36576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011680" y="1645920"/>
            <a:ext cx="1645920" cy="228600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0" y="1737360"/>
            <a:ext cx="1645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246888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Technical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301752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Chart analysis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657600" y="2560320"/>
            <a:ext cx="137160" cy="36576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49040" y="1645920"/>
            <a:ext cx="1645920" cy="2286000"/>
          </a:xfrm>
          <a:prstGeom prst="round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49040" y="1737360"/>
            <a:ext cx="1645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40" y="246888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Fundamental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40" y="301752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Business quality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394960" y="2560320"/>
            <a:ext cx="137160" cy="36576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486400" y="1645920"/>
            <a:ext cx="1645920" cy="228600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0" y="1737360"/>
            <a:ext cx="1645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246888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SEC Filing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301752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Verify financials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132320" y="2560320"/>
            <a:ext cx="137160" cy="36576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223760" y="1645920"/>
            <a:ext cx="1645920" cy="228600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23760" y="1737360"/>
            <a:ext cx="1645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246888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Decision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301752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Act &amp; monitor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3891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666666"/>
                </a:solidFill>
              </a:defRPr>
            </a:pPr>
            <a:r>
              <a:t>Key Tools: Market News • D/W/M Charts • Multi-TF Gallery • StockCharts • Fundamental Analysis • Business Analysis • Buffett &amp; CANSLIM • 10-K/10-Q Study • Watch List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D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657600" y="1371600"/>
            <a:ext cx="1828800" cy="182880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0" y="164592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1A365D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Discovery &amp; Screening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Phase 1: Discovery &amp; Screening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8229600" cy="548640"/>
          </a:xfrm>
          <a:prstGeom prst="roundRect">
            <a:avLst/>
          </a:prstGeom>
          <a:solidFill>
            <a:srgbClr val="E8F4F8"/>
          </a:solidFill>
          <a:ln>
            <a:solidFill>
              <a:srgbClr val="2D5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D5A8A"/>
                </a:solidFill>
              </a:defRPr>
            </a:pPr>
            <a:r>
              <a:t>🎯 Goal: Identify potential investment candidates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>
                <a:solidFill>
                  <a:srgbClr val="1A365D"/>
                </a:solidFill>
              </a:defRPr>
            </a:pPr>
            <a:r>
              <a:t>• Start with Market Overview</a:t>
            </a:r>
          </a:p>
          <a:p>
            <a:pPr>
              <a:spcBef>
                <a:spcPts val="400"/>
              </a:spcBef>
              <a:defRPr sz="1600">
                <a:solidFill>
                  <a:srgbClr val="4A4A4A"/>
                </a:solidFill>
              </a:defRPr>
            </a:pPr>
            <a:r>
              <a:t>    ◦ Click Market news for AI-summarized conditions</a:t>
            </a:r>
          </a:p>
          <a:p>
            <a:pPr>
              <a:spcBef>
                <a:spcPts val="400"/>
              </a:spcBef>
              <a:defRPr sz="1600">
                <a:solidFill>
                  <a:srgbClr val="4A4A4A"/>
                </a:solidFill>
              </a:defRPr>
            </a:pPr>
            <a:r>
              <a:t>    ◦ Check sector rotation and sentiment</a:t>
            </a:r>
          </a:p>
          <a:p>
            <a:pPr>
              <a:spcBef>
                <a:spcPts val="1200"/>
              </a:spcBef>
              <a:defRPr sz="2000" b="1">
                <a:solidFill>
                  <a:srgbClr val="1A365D"/>
                </a:solidFill>
              </a:defRPr>
            </a:pPr>
            <a:r>
              <a:t>• Browse Curated Lists</a:t>
            </a:r>
          </a:p>
          <a:p>
            <a:pPr>
              <a:spcBef>
                <a:spcPts val="400"/>
              </a:spcBef>
              <a:defRPr sz="1600">
                <a:solidFill>
                  <a:srgbClr val="4A4A4A"/>
                </a:solidFill>
              </a:defRPr>
            </a:pPr>
            <a:r>
              <a:t>    ◦ Use ◀/▶ to navigate ticker lists</a:t>
            </a:r>
          </a:p>
          <a:p>
            <a:pPr>
              <a:spcBef>
                <a:spcPts val="400"/>
              </a:spcBef>
              <a:defRPr sz="1600">
                <a:solidFill>
                  <a:srgbClr val="4A4A4A"/>
                </a:solidFill>
              </a:defRPr>
            </a:pPr>
            <a:r>
              <a:t>    ◦ Open D charts for quick visual scan</a:t>
            </a:r>
          </a:p>
          <a:p>
            <a:pPr>
              <a:spcBef>
                <a:spcPts val="1200"/>
              </a:spcBef>
              <a:defRPr sz="2000" b="1">
                <a:solidFill>
                  <a:srgbClr val="1A365D"/>
                </a:solidFill>
              </a:defRPr>
            </a:pPr>
            <a:r>
              <a:t>• External Screening</a:t>
            </a:r>
          </a:p>
          <a:p>
            <a:pPr>
              <a:spcBef>
                <a:spcPts val="400"/>
              </a:spcBef>
              <a:defRPr sz="1600">
                <a:solidFill>
                  <a:srgbClr val="4A4A4A"/>
                </a:solidFill>
              </a:defRPr>
            </a:pPr>
            <a:r>
              <a:t>    ◦ Use Finviz Screener via URLs menu</a:t>
            </a:r>
          </a:p>
          <a:p>
            <a:pPr>
              <a:spcBef>
                <a:spcPts val="400"/>
              </a:spcBef>
              <a:defRPr sz="1600">
                <a:solidFill>
                  <a:srgbClr val="4A4A4A"/>
                </a:solidFill>
              </a:defRPr>
            </a:pPr>
            <a:r>
              <a:t>    ◦ AI Search: 'Find undervalued tech stocks'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D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657600" y="1371600"/>
            <a:ext cx="1828800" cy="182880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0" y="164592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1A365D"/>
                </a:solidFill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Technical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Phase 2: Technical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8229600" cy="548640"/>
          </a:xfrm>
          <a:prstGeom prst="roundRect">
            <a:avLst/>
          </a:prstGeom>
          <a:solidFill>
            <a:srgbClr val="E8F4F8"/>
          </a:solidFill>
          <a:ln>
            <a:solidFill>
              <a:srgbClr val="2D5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D5A8A"/>
                </a:solidFill>
              </a:defRPr>
            </a:pPr>
            <a:r>
              <a:t>🎯 Goal: Evaluate price action and chart patterns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>
                <a:solidFill>
                  <a:srgbClr val="1A365D"/>
                </a:solidFill>
              </a:defRPr>
            </a:pPr>
            <a:r>
              <a:t>• Multi-Timeframe Analysis</a:t>
            </a:r>
          </a:p>
          <a:p>
            <a:pPr>
              <a:spcBef>
                <a:spcPts val="400"/>
              </a:spcBef>
              <a:defRPr sz="1600">
                <a:solidFill>
                  <a:srgbClr val="4A4A4A"/>
                </a:solidFill>
              </a:defRPr>
            </a:pPr>
            <a:r>
              <a:t>    ◦ Click Multi-TF for D/W/M view</a:t>
            </a:r>
          </a:p>
          <a:p>
            <a:pPr>
              <a:spcBef>
                <a:spcPts val="400"/>
              </a:spcBef>
              <a:defRPr sz="1600">
                <a:solidFill>
                  <a:srgbClr val="4A4A4A"/>
                </a:solidFill>
              </a:defRPr>
            </a:pPr>
            <a:r>
              <a:t>    ◦ Look for trend alignment across timeframes</a:t>
            </a:r>
          </a:p>
          <a:p>
            <a:pPr>
              <a:spcBef>
                <a:spcPts val="1200"/>
              </a:spcBef>
              <a:defRPr sz="2000" b="1">
                <a:solidFill>
                  <a:srgbClr val="1A365D"/>
                </a:solidFill>
              </a:defRPr>
            </a:pPr>
            <a:r>
              <a:t>• StockCharts Deep Dive</a:t>
            </a:r>
          </a:p>
          <a:p>
            <a:pPr>
              <a:spcBef>
                <a:spcPts val="400"/>
              </a:spcBef>
              <a:defRPr sz="1600">
                <a:solidFill>
                  <a:srgbClr val="4A4A4A"/>
                </a:solidFill>
              </a:defRPr>
            </a:pPr>
            <a:r>
              <a:t>    ◦ SC button for professional charting</a:t>
            </a:r>
          </a:p>
          <a:p>
            <a:pPr>
              <a:spcBef>
                <a:spcPts val="400"/>
              </a:spcBef>
              <a:defRPr sz="1600">
                <a:solidFill>
                  <a:srgbClr val="4A4A4A"/>
                </a:solidFill>
              </a:defRPr>
            </a:pPr>
            <a:r>
              <a:t>    ◦ Check support/resistance, MAs, volume</a:t>
            </a:r>
          </a:p>
          <a:p>
            <a:pPr>
              <a:spcBef>
                <a:spcPts val="1200"/>
              </a:spcBef>
              <a:defRPr sz="2000" b="1">
                <a:solidFill>
                  <a:srgbClr val="1A365D"/>
                </a:solidFill>
              </a:defRPr>
            </a:pPr>
            <a:r>
              <a:t>• Seasonality &amp; Comparison</a:t>
            </a:r>
          </a:p>
          <a:p>
            <a:pPr>
              <a:spcBef>
                <a:spcPts val="400"/>
              </a:spcBef>
              <a:defRPr sz="1600">
                <a:solidFill>
                  <a:srgbClr val="4A4A4A"/>
                </a:solidFill>
              </a:defRPr>
            </a:pPr>
            <a:r>
              <a:t>    ◦ Seasonality tab for historical patterns</a:t>
            </a:r>
          </a:p>
          <a:p>
            <a:pPr>
              <a:spcBef>
                <a:spcPts val="400"/>
              </a:spcBef>
              <a:defRPr sz="1600">
                <a:solidFill>
                  <a:srgbClr val="4A4A4A"/>
                </a:solidFill>
              </a:defRPr>
            </a:pPr>
            <a:r>
              <a:t>    ◦ Compare button for relative performance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D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657600" y="1371600"/>
            <a:ext cx="1828800" cy="182880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0" y="164592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1A365D"/>
                </a:solidFill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Fundamental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Phase 3: Fundamental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8229600" cy="548640"/>
          </a:xfrm>
          <a:prstGeom prst="roundRect">
            <a:avLst/>
          </a:prstGeom>
          <a:solidFill>
            <a:srgbClr val="E8F4F8"/>
          </a:solidFill>
          <a:ln>
            <a:solidFill>
              <a:srgbClr val="2D5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D5A8A"/>
                </a:solidFill>
              </a:defRPr>
            </a:pPr>
            <a:r>
              <a:t>🎯 Goal: Understand the business and 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>
                <a:solidFill>
                  <a:srgbClr val="1A365D"/>
                </a:solidFill>
              </a:defRPr>
            </a:pPr>
            <a:r>
              <a:t>• Quick Metrics Review</a:t>
            </a:r>
          </a:p>
          <a:p>
            <a:pPr>
              <a:spcBef>
                <a:spcPts val="400"/>
              </a:spcBef>
              <a:defRPr sz="1600">
                <a:solidFill>
                  <a:srgbClr val="4A4A4A"/>
                </a:solidFill>
              </a:defRPr>
            </a:pPr>
            <a:r>
              <a:t>    ◦ Fundamental Analysis tab</a:t>
            </a:r>
          </a:p>
          <a:p>
            <a:pPr>
              <a:spcBef>
                <a:spcPts val="400"/>
              </a:spcBef>
              <a:defRPr sz="1600">
                <a:solidFill>
                  <a:srgbClr val="4A4A4A"/>
                </a:solidFill>
              </a:defRPr>
            </a:pPr>
            <a:r>
              <a:t>    ◦ Filter: 'pe ratio market cap revenue'</a:t>
            </a:r>
          </a:p>
          <a:p>
            <a:pPr>
              <a:spcBef>
                <a:spcPts val="1200"/>
              </a:spcBef>
              <a:defRPr sz="2000" b="1">
                <a:solidFill>
                  <a:srgbClr val="1A365D"/>
                </a:solidFill>
              </a:defRPr>
            </a:pPr>
            <a:r>
              <a:t>• Business Deep Dive</a:t>
            </a:r>
          </a:p>
          <a:p>
            <a:pPr>
              <a:spcBef>
                <a:spcPts val="400"/>
              </a:spcBef>
              <a:defRPr sz="1600">
                <a:solidFill>
                  <a:srgbClr val="4A4A4A"/>
                </a:solidFill>
              </a:defRPr>
            </a:pPr>
            <a:r>
              <a:t>    ◦ Run BA for AI analysis</a:t>
            </a:r>
          </a:p>
          <a:p>
            <a:pPr>
              <a:spcBef>
                <a:spcPts val="400"/>
              </a:spcBef>
              <a:defRPr sz="1600">
                <a:solidFill>
                  <a:srgbClr val="4A4A4A"/>
                </a:solidFill>
              </a:defRPr>
            </a:pPr>
            <a:r>
              <a:t>    ◦ Review business model, moat, risks</a:t>
            </a:r>
          </a:p>
          <a:p>
            <a:pPr>
              <a:spcBef>
                <a:spcPts val="1200"/>
              </a:spcBef>
              <a:defRPr sz="2000" b="1">
                <a:solidFill>
                  <a:srgbClr val="1A365D"/>
                </a:solidFill>
              </a:defRPr>
            </a:pPr>
            <a:r>
              <a:t>• Investment Framework</a:t>
            </a:r>
          </a:p>
          <a:p>
            <a:pPr>
              <a:spcBef>
                <a:spcPts val="400"/>
              </a:spcBef>
              <a:defRPr sz="1600">
                <a:solidFill>
                  <a:srgbClr val="4A4A4A"/>
                </a:solidFill>
              </a:defRPr>
            </a:pPr>
            <a:r>
              <a:t>    ◦ Buffett &amp; CANSLIM tab</a:t>
            </a:r>
          </a:p>
          <a:p>
            <a:pPr>
              <a:spcBef>
                <a:spcPts val="400"/>
              </a:spcBef>
              <a:defRPr sz="1600">
                <a:solidFill>
                  <a:srgbClr val="4A4A4A"/>
                </a:solidFill>
              </a:defRPr>
            </a:pPr>
            <a:r>
              <a:t>    ◦ Check radar chart for strengths/weaknesses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D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657600" y="1371600"/>
            <a:ext cx="1828800" cy="182880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0" y="164592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1A365D"/>
                </a:solidFill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SEC Filing Analysis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Phase 4: SEC Filing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8229600" cy="548640"/>
          </a:xfrm>
          <a:prstGeom prst="roundRect">
            <a:avLst/>
          </a:prstGeom>
          <a:solidFill>
            <a:srgbClr val="E8F4F8"/>
          </a:solidFill>
          <a:ln>
            <a:solidFill>
              <a:srgbClr val="2D5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D5A8A"/>
                </a:solidFill>
              </a:defRPr>
            </a:pPr>
            <a:r>
              <a:t>🎯 Goal: Verify financials and identify risks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>
                <a:solidFill>
                  <a:srgbClr val="1A365D"/>
                </a:solidFill>
              </a:defRPr>
            </a:pPr>
            <a:r>
              <a:t>• Annual Report (10-K)</a:t>
            </a:r>
          </a:p>
          <a:p>
            <a:pPr>
              <a:spcBef>
                <a:spcPts val="400"/>
              </a:spcBef>
              <a:defRPr sz="1600">
                <a:solidFill>
                  <a:srgbClr val="4A4A4A"/>
                </a:solidFill>
              </a:defRPr>
            </a:pPr>
            <a:r>
              <a:t>    ◦ 10K Study for AI analysis</a:t>
            </a:r>
          </a:p>
          <a:p>
            <a:pPr>
              <a:spcBef>
                <a:spcPts val="400"/>
              </a:spcBef>
              <a:defRPr sz="1600">
                <a:solidFill>
                  <a:srgbClr val="4A4A4A"/>
                </a:solidFill>
              </a:defRPr>
            </a:pPr>
            <a:r>
              <a:t>    ◦ Extract Tables for detailed data</a:t>
            </a:r>
          </a:p>
          <a:p>
            <a:pPr>
              <a:spcBef>
                <a:spcPts val="1200"/>
              </a:spcBef>
              <a:defRPr sz="2000" b="1">
                <a:solidFill>
                  <a:srgbClr val="1A365D"/>
                </a:solidFill>
              </a:defRPr>
            </a:pPr>
            <a:r>
              <a:t>• Quarterly Report (10-Q)</a:t>
            </a:r>
          </a:p>
          <a:p>
            <a:pPr>
              <a:spcBef>
                <a:spcPts val="400"/>
              </a:spcBef>
              <a:defRPr sz="1600">
                <a:solidFill>
                  <a:srgbClr val="4A4A4A"/>
                </a:solidFill>
              </a:defRPr>
            </a:pPr>
            <a:r>
              <a:t>    ◦ 10-Q Study for recent quarter</a:t>
            </a:r>
          </a:p>
          <a:p>
            <a:pPr>
              <a:spcBef>
                <a:spcPts val="400"/>
              </a:spcBef>
              <a:defRPr sz="1600">
                <a:solidFill>
                  <a:srgbClr val="4A4A4A"/>
                </a:solidFill>
              </a:defRPr>
            </a:pPr>
            <a:r>
              <a:t>    ◦ Compare to previous quarters</a:t>
            </a:r>
          </a:p>
          <a:p>
            <a:pPr>
              <a:spcBef>
                <a:spcPts val="1200"/>
              </a:spcBef>
              <a:defRPr sz="2000" b="1">
                <a:solidFill>
                  <a:srgbClr val="1A365D"/>
                </a:solidFill>
              </a:defRPr>
            </a:pPr>
            <a:r>
              <a:t>• Financial Tables</a:t>
            </a:r>
          </a:p>
          <a:p>
            <a:pPr>
              <a:spcBef>
                <a:spcPts val="400"/>
              </a:spcBef>
              <a:defRPr sz="1600">
                <a:solidFill>
                  <a:srgbClr val="4A4A4A"/>
                </a:solidFill>
              </a:defRPr>
            </a:pPr>
            <a:r>
              <a:t>    ◦ Export to Excel for analysis</a:t>
            </a:r>
          </a:p>
          <a:p>
            <a:pPr>
              <a:spcBef>
                <a:spcPts val="400"/>
              </a:spcBef>
              <a:defRPr sz="1600">
                <a:solidFill>
                  <a:srgbClr val="4A4A4A"/>
                </a:solidFill>
              </a:defRPr>
            </a:pPr>
            <a:r>
              <a:t>    ◦ Track key metrics over time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D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657600" y="1371600"/>
            <a:ext cx="1828800" cy="182880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0" y="164592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1A365D"/>
                </a:solidFill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Decision &amp; Monitoring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Phase 5: Decision &amp; Monitoring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8229600" cy="548640"/>
          </a:xfrm>
          <a:prstGeom prst="roundRect">
            <a:avLst/>
          </a:prstGeom>
          <a:solidFill>
            <a:srgbClr val="E8F4F8"/>
          </a:solidFill>
          <a:ln>
            <a:solidFill>
              <a:srgbClr val="2D5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D5A8A"/>
                </a:solidFill>
              </a:defRPr>
            </a:pPr>
            <a:r>
              <a:t>🎯 Goal: Make informed decision and track position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>
                <a:solidFill>
                  <a:srgbClr val="1A365D"/>
                </a:solidFill>
              </a:defRPr>
            </a:pPr>
            <a:r>
              <a:t>• Build Your Thesis</a:t>
            </a:r>
          </a:p>
          <a:p>
            <a:pPr>
              <a:spcBef>
                <a:spcPts val="400"/>
              </a:spcBef>
              <a:defRPr sz="1600">
                <a:solidFill>
                  <a:srgbClr val="4A4A4A"/>
                </a:solidFill>
              </a:defRPr>
            </a:pPr>
            <a:r>
              <a:t>    ◦ Summarize findings with clipboard AI</a:t>
            </a:r>
          </a:p>
          <a:p>
            <a:pPr>
              <a:spcBef>
                <a:spcPts val="400"/>
              </a:spcBef>
              <a:defRPr sz="1600">
                <a:solidFill>
                  <a:srgbClr val="4A4A4A"/>
                </a:solidFill>
              </a:defRPr>
            </a:pPr>
            <a:r>
              <a:t>    ◦ Document: Why buy? At what price? Risk?</a:t>
            </a:r>
          </a:p>
          <a:p>
            <a:pPr>
              <a:spcBef>
                <a:spcPts val="1200"/>
              </a:spcBef>
              <a:defRPr sz="2000" b="1">
                <a:solidFill>
                  <a:srgbClr val="1A365D"/>
                </a:solidFill>
              </a:defRPr>
            </a:pPr>
            <a:r>
              <a:t>• Add to Watch List</a:t>
            </a:r>
          </a:p>
          <a:p>
            <a:pPr>
              <a:spcBef>
                <a:spcPts val="400"/>
              </a:spcBef>
              <a:defRPr sz="1600">
                <a:solidFill>
                  <a:srgbClr val="4A4A4A"/>
                </a:solidFill>
              </a:defRPr>
            </a:pPr>
            <a:r>
              <a:t>    ◦ Right-click → Copy to Watch List</a:t>
            </a:r>
          </a:p>
          <a:p>
            <a:pPr>
              <a:spcBef>
                <a:spcPts val="400"/>
              </a:spcBef>
              <a:defRPr sz="1600">
                <a:solidFill>
                  <a:srgbClr val="4A4A4A"/>
                </a:solidFill>
              </a:defRPr>
            </a:pPr>
            <a:r>
              <a:t>    ◦ Persists across sessions</a:t>
            </a:r>
          </a:p>
          <a:p>
            <a:pPr>
              <a:spcBef>
                <a:spcPts val="1200"/>
              </a:spcBef>
              <a:defRPr sz="2000" b="1">
                <a:solidFill>
                  <a:srgbClr val="1A365D"/>
                </a:solidFill>
              </a:defRPr>
            </a:pPr>
            <a:r>
              <a:t>• Ongoing Monitoring</a:t>
            </a:r>
          </a:p>
          <a:p>
            <a:pPr>
              <a:spcBef>
                <a:spcPts val="400"/>
              </a:spcBef>
              <a:defRPr sz="1600">
                <a:solidFill>
                  <a:srgbClr val="4A4A4A"/>
                </a:solidFill>
              </a:defRPr>
            </a:pPr>
            <a:r>
              <a:t>    ◦ Check Stock news regularly</a:t>
            </a:r>
          </a:p>
          <a:p>
            <a:pPr>
              <a:spcBef>
                <a:spcPts val="400"/>
              </a:spcBef>
              <a:defRPr sz="1600">
                <a:solidFill>
                  <a:srgbClr val="4A4A4A"/>
                </a:solidFill>
              </a:defRPr>
            </a:pPr>
            <a:r>
              <a:t>    ◦ Re-run analysis after earnings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D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Quick Checklists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✓ 5-Minute Stock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200">
                <a:solidFill>
                  <a:srgbClr val="333333"/>
                </a:solidFill>
              </a:defRPr>
            </a:pPr>
            <a:r>
              <a:t>☐ Open D chart - Trending up/down/sideways?</a:t>
            </a:r>
          </a:p>
          <a:p>
            <a:pPr>
              <a:spcBef>
                <a:spcPts val="1400"/>
              </a:spcBef>
              <a:defRPr sz="2200">
                <a:solidFill>
                  <a:srgbClr val="333333"/>
                </a:solidFill>
              </a:defRPr>
            </a:pPr>
            <a:r>
              <a:t>☐ Fundamental Analysis - P/E reasonable? Growing revenue?</a:t>
            </a:r>
          </a:p>
          <a:p>
            <a:pPr>
              <a:spcBef>
                <a:spcPts val="1400"/>
              </a:spcBef>
              <a:defRPr sz="2200">
                <a:solidFill>
                  <a:srgbClr val="333333"/>
                </a:solidFill>
              </a:defRPr>
            </a:pPr>
            <a:r>
              <a:t>☐ Stock news - Any red flags?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✓ 30-Minute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200">
                <a:solidFill>
                  <a:srgbClr val="333333"/>
                </a:solidFill>
              </a:defRPr>
            </a:pPr>
            <a:r>
              <a:t>☐ Multi-TF charts - Trend alignment?</a:t>
            </a:r>
          </a:p>
          <a:p>
            <a:pPr>
              <a:spcBef>
                <a:spcPts val="1400"/>
              </a:spcBef>
              <a:defRPr sz="2200">
                <a:solidFill>
                  <a:srgbClr val="333333"/>
                </a:solidFill>
              </a:defRPr>
            </a:pPr>
            <a:r>
              <a:t>☐ Seasonality - Good entry timing?</a:t>
            </a:r>
          </a:p>
          <a:p>
            <a:pPr>
              <a:spcBef>
                <a:spcPts val="1400"/>
              </a:spcBef>
              <a:defRPr sz="2200">
                <a:solidFill>
                  <a:srgbClr val="333333"/>
                </a:solidFill>
              </a:defRPr>
            </a:pPr>
            <a:r>
              <a:t>☐ Run BA - Business quality?</a:t>
            </a:r>
          </a:p>
          <a:p>
            <a:pPr>
              <a:spcBef>
                <a:spcPts val="1400"/>
              </a:spcBef>
              <a:defRPr sz="2200">
                <a:solidFill>
                  <a:srgbClr val="333333"/>
                </a:solidFill>
              </a:defRPr>
            </a:pPr>
            <a:r>
              <a:t>☐ Buffett &amp; CANSLIM - Investment grade?</a:t>
            </a:r>
          </a:p>
          <a:p>
            <a:pPr>
              <a:spcBef>
                <a:spcPts val="1400"/>
              </a:spcBef>
              <a:defRPr sz="2200">
                <a:solidFill>
                  <a:srgbClr val="333333"/>
                </a:solidFill>
              </a:defRPr>
            </a:pPr>
            <a:r>
              <a:t>☐ 10-Q Study - Recent quarter healthy?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✓ Pre-Earnings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200">
                <a:solidFill>
                  <a:srgbClr val="333333"/>
                </a:solidFill>
              </a:defRPr>
            </a:pPr>
            <a:r>
              <a:t>☐ Review last 4 quarters via 10-Q Study</a:t>
            </a:r>
          </a:p>
          <a:p>
            <a:pPr>
              <a:spcBef>
                <a:spcPts val="1400"/>
              </a:spcBef>
              <a:defRPr sz="2200">
                <a:solidFill>
                  <a:srgbClr val="333333"/>
                </a:solidFill>
              </a:defRPr>
            </a:pPr>
            <a:r>
              <a:t>☐ Check news for analyst expectations</a:t>
            </a:r>
          </a:p>
          <a:p>
            <a:pPr>
              <a:spcBef>
                <a:spcPts val="1400"/>
              </a:spcBef>
              <a:defRPr sz="2200">
                <a:solidFill>
                  <a:srgbClr val="333333"/>
                </a:solidFill>
              </a:defRPr>
            </a:pPr>
            <a:r>
              <a:t>☐ Review Seasonality for historical reactions</a:t>
            </a:r>
          </a:p>
          <a:p>
            <a:pPr>
              <a:spcBef>
                <a:spcPts val="1400"/>
              </a:spcBef>
              <a:defRPr sz="2200">
                <a:solidFill>
                  <a:srgbClr val="333333"/>
                </a:solidFill>
              </a:defRPr>
            </a:pPr>
            <a:r>
              <a:t>☐ Set position size based on volatility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D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Research Templates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📋 Value Investing Template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548640" cy="54864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554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Fundamental Analysis → Filter: 'book value debt equity roe'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286000"/>
            <a:ext cx="548640" cy="54864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3774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Buffett &amp; CANSLIM → Check value metrics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108960"/>
            <a:ext cx="548640" cy="54864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20040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200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10-K Study → Verify balance sheet strength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931920"/>
            <a:ext cx="548640" cy="54864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023359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023359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AI Search → 'What are the competitive advantages?'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📋 Growth Investing Template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548640" cy="54864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554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Fundamental Analysis → Filter: 'revenue growth earnings'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286000"/>
            <a:ext cx="548640" cy="54864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3774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Multi-TF Charts → Confirm uptrend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108960"/>
            <a:ext cx="548640" cy="54864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20040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200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Run BA → Analyze market opportunity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931920"/>
            <a:ext cx="548640" cy="54864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023359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023359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10-Q Study → Verify growth acceleration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📋 Dividend Investing Template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548640" cy="54864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554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Fundamental Analysis → Filter: 'dividend yield payout'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286000"/>
            <a:ext cx="548640" cy="54864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3774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10-K Study → Check dividend history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108960"/>
            <a:ext cx="548640" cy="54864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20040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200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AI Search → 'Is dividend sustainable?'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931920"/>
            <a:ext cx="548640" cy="54864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023359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023359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Seasonality → Best entry points historically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Start Researching!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CCCCC"/>
                </a:solidFill>
              </a:defRPr>
            </a:pPr>
            <a:r>
              <a:t>Launch main.py and follow the workflow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